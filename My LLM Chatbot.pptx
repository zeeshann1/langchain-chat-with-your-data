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5" r:id="rId5"/>
    <p:sldId id="259" r:id="rId6"/>
    <p:sldId id="266" r:id="rId7"/>
    <p:sldId id="260" r:id="rId8"/>
    <p:sldId id="267" r:id="rId9"/>
    <p:sldId id="261" r:id="rId10"/>
    <p:sldId id="262" r:id="rId11"/>
    <p:sldId id="263" r:id="rId12"/>
    <p:sldId id="268" r:id="rId13"/>
    <p:sldId id="264" r:id="rId14"/>
    <p:sldId id="270" r:id="rId15"/>
    <p:sldId id="274" r:id="rId16"/>
    <p:sldId id="273" r:id="rId17"/>
    <p:sldId id="275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120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E26BA-A8AD-4A53-AA95-A6449360F737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35B9-9EE6-4948-8102-430985F0B81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814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E26BA-A8AD-4A53-AA95-A6449360F737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35B9-9EE6-4948-8102-430985F0B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904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E26BA-A8AD-4A53-AA95-A6449360F737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35B9-9EE6-4948-8102-430985F0B81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694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E26BA-A8AD-4A53-AA95-A6449360F737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35B9-9EE6-4948-8102-430985F0B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16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E26BA-A8AD-4A53-AA95-A6449360F737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35B9-9EE6-4948-8102-430985F0B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63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E26BA-A8AD-4A53-AA95-A6449360F737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35B9-9EE6-4948-8102-430985F0B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341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E26BA-A8AD-4A53-AA95-A6449360F737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35B9-9EE6-4948-8102-430985F0B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205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3DE26BA-A8AD-4A53-AA95-A6449360F737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6435B9-9EE6-4948-8102-430985F0B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064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E26BA-A8AD-4A53-AA95-A6449360F737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35B9-9EE6-4948-8102-430985F0B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277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E26BA-A8AD-4A53-AA95-A6449360F737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35B9-9EE6-4948-8102-430985F0B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584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E26BA-A8AD-4A53-AA95-A6449360F737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435B9-9EE6-4948-8102-430985F0B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161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3DE26BA-A8AD-4A53-AA95-A6449360F737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46435B9-9EE6-4948-8102-430985F0B81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7384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0051" y="270680"/>
            <a:ext cx="10058400" cy="356616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smtClean="0">
                <a:solidFill>
                  <a:srgbClr val="002060"/>
                </a:solidFill>
              </a:rPr>
              <a:t>Large Language Model (LLM) Chatbot</a:t>
            </a:r>
            <a:endParaRPr lang="en-US" sz="4800" b="1" dirty="0">
              <a:solidFill>
                <a:srgbClr val="00206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OpeNai, Lang chain, OLLAMA, LLMA3.2, HUGGING-FACE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46377" y="5211192"/>
            <a:ext cx="548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ZEESHAN HYDER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653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smtClean="0"/>
              <a:t>LangChain Framework  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364806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LangChain is an open-source developer framework for building LLM applications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13699" y="2525520"/>
            <a:ext cx="5943600" cy="2996565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009442" y="2318914"/>
            <a:ext cx="5943600" cy="35750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0531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smtClean="0"/>
              <a:t>1) Document </a:t>
            </a:r>
            <a:r>
              <a:rPr lang="en-US" sz="4400" b="1" dirty="0"/>
              <a:t>Loading</a:t>
            </a:r>
            <a:endParaRPr lang="en-US" sz="4400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4790" y="1881775"/>
            <a:ext cx="4324057" cy="248604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947405" y="4512230"/>
            <a:ext cx="6219825" cy="178625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92753" y="4669573"/>
            <a:ext cx="4551286" cy="1117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b="1" spc="-5" dirty="0">
                <a:solidFill>
                  <a:srgbClr val="00B050"/>
                </a:solidFill>
                <a:latin typeface="Georgia" panose="02040502050405020303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Retrieval augmented generation (RAG) framework</a:t>
            </a:r>
            <a:endParaRPr lang="en-US" sz="1100" dirty="0">
              <a:latin typeface="Calibri" panose="020F050202020403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200" b="1" dirty="0">
                <a:solidFill>
                  <a:srgbClr val="FF0000"/>
                </a:solidFill>
                <a:latin typeface="Calibri Light" panose="020F03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RAG</a:t>
            </a:r>
            <a:r>
              <a:rPr lang="en-US" sz="1200" dirty="0">
                <a:solidFill>
                  <a:srgbClr val="000000"/>
                </a:solidFill>
                <a:latin typeface="Calibri Light" panose="020F03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 is useful if we want to ask question about specific documents (e.g., our PDFs, a set of videos, etc</a:t>
            </a:r>
            <a:r>
              <a:rPr lang="en-US" sz="1200" dirty="0" smtClean="0">
                <a:solidFill>
                  <a:srgbClr val="000000"/>
                </a:solidFill>
                <a:latin typeface="Calibri Light" panose="020F03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).</a:t>
            </a:r>
            <a:endParaRPr lang="en-US" sz="1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47405" y="4440023"/>
            <a:ext cx="1597980" cy="1858461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/>
          <p:nvPr/>
        </p:nvPicPr>
        <p:blipFill>
          <a:blip r:embed="rId4"/>
          <a:stretch>
            <a:fillRect/>
          </a:stretch>
        </p:blipFill>
        <p:spPr>
          <a:xfrm>
            <a:off x="7338857" y="1809567"/>
            <a:ext cx="4042316" cy="278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720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776" y="79899"/>
            <a:ext cx="2769833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Code for document loading 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28" y="946774"/>
            <a:ext cx="4281829" cy="1991736"/>
          </a:xfrm>
          <a:prstGeom prst="rect">
            <a:avLst/>
          </a:prstGeom>
          <a:ln>
            <a:solidFill>
              <a:srgbClr val="FFFF00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76" y="3429744"/>
            <a:ext cx="5328665" cy="1475743"/>
          </a:xfrm>
          <a:prstGeom prst="rect">
            <a:avLst/>
          </a:prstGeom>
          <a:solidFill>
            <a:schemeClr val="tx1"/>
          </a:solidFill>
          <a:ln>
            <a:solidFill>
              <a:srgbClr val="FFFF00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7018" y="3429744"/>
            <a:ext cx="5750552" cy="2363890"/>
          </a:xfrm>
          <a:prstGeom prst="rect">
            <a:avLst/>
          </a:prstGeom>
          <a:ln>
            <a:solidFill>
              <a:srgbClr val="FFFF00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2096" y="946774"/>
            <a:ext cx="7273372" cy="2230163"/>
          </a:xfrm>
          <a:prstGeom prst="rect">
            <a:avLst/>
          </a:prstGeom>
          <a:ln>
            <a:solidFill>
              <a:srgbClr val="FFFF00"/>
            </a:solidFill>
          </a:ln>
        </p:spPr>
      </p:pic>
    </p:spTree>
    <p:extLst>
      <p:ext uri="{BB962C8B-B14F-4D97-AF65-F5344CB8AC3E}">
        <p14:creationId xmlns:p14="http://schemas.microsoft.com/office/powerpoint/2010/main" val="2560082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smtClean="0"/>
              <a:t>2) Document </a:t>
            </a:r>
            <a:r>
              <a:rPr lang="en-US" sz="4400" b="1" dirty="0"/>
              <a:t>Splitting </a:t>
            </a:r>
            <a:endParaRPr lang="en-US" sz="4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7873" y="1851646"/>
            <a:ext cx="4921038" cy="2613822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248400" y="4196424"/>
            <a:ext cx="5943600" cy="1656715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4"/>
          <a:stretch>
            <a:fillRect/>
          </a:stretch>
        </p:blipFill>
        <p:spPr>
          <a:xfrm>
            <a:off x="6614917" y="2063326"/>
            <a:ext cx="4252595" cy="19697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4563122"/>
            <a:ext cx="2061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Types of Splitters: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5095782"/>
            <a:ext cx="5517637" cy="96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129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776" y="79899"/>
            <a:ext cx="2920754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Code for document splitting 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43" y="644659"/>
            <a:ext cx="5557610" cy="3102999"/>
          </a:xfrm>
          <a:prstGeom prst="rect">
            <a:avLst/>
          </a:prstGeom>
          <a:ln>
            <a:solidFill>
              <a:srgbClr val="FFFF00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43" y="3849588"/>
            <a:ext cx="3162741" cy="1857634"/>
          </a:xfrm>
          <a:prstGeom prst="rect">
            <a:avLst/>
          </a:prstGeom>
          <a:ln>
            <a:solidFill>
              <a:srgbClr val="FFFF00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9761" y="1139331"/>
            <a:ext cx="5955296" cy="1328419"/>
          </a:xfrm>
          <a:prstGeom prst="rect">
            <a:avLst/>
          </a:prstGeom>
          <a:ln>
            <a:solidFill>
              <a:srgbClr val="FFFF00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9761" y="3049450"/>
            <a:ext cx="5363323" cy="1238423"/>
          </a:xfrm>
          <a:prstGeom prst="rect">
            <a:avLst/>
          </a:prstGeom>
          <a:ln>
            <a:solidFill>
              <a:srgbClr val="FFFF00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3968" y="4869573"/>
            <a:ext cx="5628205" cy="1371430"/>
          </a:xfrm>
          <a:prstGeom prst="rect">
            <a:avLst/>
          </a:prstGeom>
          <a:ln>
            <a:solidFill>
              <a:srgbClr val="FFFF0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5869761" y="4406645"/>
            <a:ext cx="1809021" cy="369332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Helvetica Neue"/>
              </a:rPr>
              <a:t>Token splitting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869761" y="2561346"/>
            <a:ext cx="1877437" cy="369332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  <a:latin typeface="Helvetica Neue"/>
              </a:rPr>
              <a:t>Notion </a:t>
            </a:r>
            <a:r>
              <a:rPr lang="en-US" b="1" dirty="0">
                <a:solidFill>
                  <a:srgbClr val="000000"/>
                </a:solidFill>
                <a:latin typeface="Helvetica Neue"/>
              </a:rPr>
              <a:t>splitting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69761" y="644659"/>
            <a:ext cx="1608133" cy="369332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  <a:latin typeface="Helvetica Neue"/>
              </a:rPr>
              <a:t>PDF </a:t>
            </a:r>
            <a:r>
              <a:rPr lang="en-US" b="1" dirty="0">
                <a:solidFill>
                  <a:srgbClr val="000000"/>
                </a:solidFill>
                <a:latin typeface="Helvetica Neue"/>
              </a:rPr>
              <a:t>splitting</a:t>
            </a:r>
          </a:p>
        </p:txBody>
      </p:sp>
    </p:spTree>
    <p:extLst>
      <p:ext uri="{BB962C8B-B14F-4D97-AF65-F5344CB8AC3E}">
        <p14:creationId xmlns:p14="http://schemas.microsoft.com/office/powerpoint/2010/main" val="1474069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smtClean="0"/>
              <a:t>3) Vectorstores </a:t>
            </a:r>
            <a:r>
              <a:rPr lang="en-US" sz="4400" b="1" dirty="0"/>
              <a:t>and Embeddings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74624" y="110083"/>
            <a:ext cx="3332677" cy="1627277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923426" y="1794161"/>
            <a:ext cx="4812437" cy="4374832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4"/>
          <a:stretch>
            <a:fillRect/>
          </a:stretch>
        </p:blipFill>
        <p:spPr>
          <a:xfrm>
            <a:off x="6491796" y="1870524"/>
            <a:ext cx="4093346" cy="4397967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5601809" y="3705523"/>
            <a:ext cx="736847" cy="363985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411896" y="5051394"/>
            <a:ext cx="8855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0070C0"/>
                </a:solidFill>
              </a:rPr>
              <a:t>query</a:t>
            </a:r>
            <a:endParaRPr lang="en-US" sz="1400" b="1" dirty="0">
              <a:solidFill>
                <a:srgbClr val="0070C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8293" y="5359171"/>
            <a:ext cx="1368118" cy="486078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>
            <a:off x="10107227" y="5407336"/>
            <a:ext cx="477915" cy="235834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1591" y="4863536"/>
            <a:ext cx="1474820" cy="35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637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774" y="79899"/>
            <a:ext cx="3923933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Code for </a:t>
            </a:r>
            <a:r>
              <a:rPr lang="en-US" b="1" dirty="0">
                <a:solidFill>
                  <a:schemeClr val="bg1"/>
                </a:solidFill>
              </a:rPr>
              <a:t>Vectorstores and Embeddings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080685" y="953885"/>
            <a:ext cx="1350050" cy="369332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b="1" dirty="0" smtClean="0"/>
              <a:t>Embeddings</a:t>
            </a:r>
            <a:endParaRPr lang="en-US" b="1" dirty="0">
              <a:latin typeface="Helvetica Neue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2707" y="1500995"/>
            <a:ext cx="3720212" cy="2941753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8747" y="1773608"/>
            <a:ext cx="3655307" cy="2396526"/>
          </a:xfrm>
          <a:prstGeom prst="rect">
            <a:avLst/>
          </a:prstGeom>
          <a:ln>
            <a:solidFill>
              <a:srgbClr val="FFFF00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7968747" y="1040897"/>
            <a:ext cx="1341393" cy="369332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b="1" dirty="0" smtClean="0"/>
              <a:t>Vector store</a:t>
            </a:r>
            <a:endParaRPr lang="en-US" b="1" dirty="0">
              <a:latin typeface="Helvetica Neue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4" y="1500995"/>
            <a:ext cx="3778869" cy="3034230"/>
          </a:xfrm>
          <a:prstGeom prst="rect">
            <a:avLst/>
          </a:prstGeom>
          <a:ln>
            <a:solidFill>
              <a:srgbClr val="FFFF0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88774" y="998942"/>
            <a:ext cx="2003369" cy="369332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b="1" dirty="0" smtClean="0"/>
              <a:t>Loader and Splitter</a:t>
            </a:r>
            <a:endParaRPr lang="en-US" b="1" dirty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652453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smtClean="0"/>
              <a:t>4) Retrieval</a:t>
            </a:r>
            <a:endParaRPr lang="en-US" sz="4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146" y="1874939"/>
            <a:ext cx="5232499" cy="17161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644" y="3948500"/>
            <a:ext cx="3696216" cy="1295581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4"/>
          <a:stretch>
            <a:fillRect/>
          </a:stretch>
        </p:blipFill>
        <p:spPr>
          <a:xfrm>
            <a:off x="8908890" y="1809418"/>
            <a:ext cx="3125680" cy="3247639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5"/>
          <a:stretch>
            <a:fillRect/>
          </a:stretch>
        </p:blipFill>
        <p:spPr>
          <a:xfrm>
            <a:off x="5468645" y="1874939"/>
            <a:ext cx="3119982" cy="3305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147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smtClean="0"/>
              <a:t>LLM Added </a:t>
            </a:r>
            <a:r>
              <a:rPr lang="en-US" sz="4400" b="1" dirty="0"/>
              <a:t>Retrieval</a:t>
            </a:r>
            <a:r>
              <a:rPr lang="en-US" sz="4400" b="1" dirty="0" smtClean="0"/>
              <a:t> </a:t>
            </a:r>
            <a:endParaRPr lang="en-US" sz="4400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2205" y="2004110"/>
            <a:ext cx="3853748" cy="4022725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5441272" y="1846263"/>
            <a:ext cx="4457330" cy="4338421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4"/>
          <a:stretch>
            <a:fillRect/>
          </a:stretch>
        </p:blipFill>
        <p:spPr>
          <a:xfrm>
            <a:off x="9251549" y="3092249"/>
            <a:ext cx="2791898" cy="153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231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smtClean="0"/>
              <a:t>5) Question </a:t>
            </a:r>
            <a:r>
              <a:rPr lang="en-US" sz="4400" b="1" dirty="0"/>
              <a:t>and Answering </a:t>
            </a:r>
            <a:endParaRPr lang="en-US" sz="4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983" y="2307089"/>
            <a:ext cx="4425358" cy="14659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60" y="4083516"/>
            <a:ext cx="4190524" cy="1438395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4"/>
          <a:stretch>
            <a:fillRect/>
          </a:stretch>
        </p:blipFill>
        <p:spPr>
          <a:xfrm>
            <a:off x="4783900" y="1916472"/>
            <a:ext cx="3072413" cy="3436763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5"/>
          <a:stretch>
            <a:fillRect/>
          </a:stretch>
        </p:blipFill>
        <p:spPr>
          <a:xfrm>
            <a:off x="8187431" y="1845450"/>
            <a:ext cx="3924670" cy="415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184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776" y="35511"/>
            <a:ext cx="2991775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Code for Retrieval and Q&amp;A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580" y="904059"/>
            <a:ext cx="5445582" cy="3348346"/>
          </a:xfrm>
          <a:prstGeom prst="rect">
            <a:avLst/>
          </a:prstGeom>
          <a:ln>
            <a:solidFill>
              <a:srgbClr val="FFFF00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5676534" y="60680"/>
            <a:ext cx="992579" cy="369332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Helvetica Neue"/>
              </a:rPr>
              <a:t>Prompt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8103" y="60680"/>
            <a:ext cx="5083427" cy="337560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510900" y="4375644"/>
            <a:ext cx="2830647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Helvetica Neue"/>
              </a:rPr>
              <a:t>RetrievalQA</a:t>
            </a:r>
            <a:r>
              <a:rPr lang="en-US" b="1" dirty="0">
                <a:solidFill>
                  <a:srgbClr val="000000"/>
                </a:solidFill>
                <a:latin typeface="Helvetica Neue"/>
              </a:rPr>
              <a:t> chain types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869" y="3539075"/>
            <a:ext cx="3391373" cy="2705478"/>
          </a:xfrm>
          <a:prstGeom prst="rect">
            <a:avLst/>
          </a:prstGeom>
          <a:ln>
            <a:solidFill>
              <a:srgbClr val="FFFF0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553374" y="437564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Helvetica Neue"/>
              </a:rPr>
              <a:t>RetrievalQA</a:t>
            </a:r>
            <a:r>
              <a:rPr lang="en-US" b="1" dirty="0">
                <a:solidFill>
                  <a:srgbClr val="000000"/>
                </a:solidFill>
                <a:latin typeface="Helvetica Neue"/>
              </a:rPr>
              <a:t> limitations</a:t>
            </a:r>
          </a:p>
          <a:p>
            <a:r>
              <a:rPr lang="en-US" dirty="0">
                <a:solidFill>
                  <a:srgbClr val="000000"/>
                </a:solidFill>
                <a:latin typeface="Helvetica Neue"/>
              </a:rPr>
              <a:t>QA fails to preserve conversational history.</a:t>
            </a:r>
          </a:p>
        </p:txBody>
      </p:sp>
      <p:sp>
        <p:nvSpPr>
          <p:cNvPr id="11" name="Bent-Up Arrow 10"/>
          <p:cNvSpPr/>
          <p:nvPr/>
        </p:nvSpPr>
        <p:spPr>
          <a:xfrm rot="5400000">
            <a:off x="7686325" y="4822301"/>
            <a:ext cx="609307" cy="701136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Bent-Up Arrow 11"/>
          <p:cNvSpPr/>
          <p:nvPr/>
        </p:nvSpPr>
        <p:spPr>
          <a:xfrm rot="5400000">
            <a:off x="6147899" y="457113"/>
            <a:ext cx="520946" cy="802001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244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6) Chat History 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917285"/>
            <a:ext cx="3636156" cy="40227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6457" y="1917285"/>
            <a:ext cx="6087644" cy="3943213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</p:pic>
    </p:spTree>
    <p:extLst>
      <p:ext uri="{BB962C8B-B14F-4D97-AF65-F5344CB8AC3E}">
        <p14:creationId xmlns:p14="http://schemas.microsoft.com/office/powerpoint/2010/main" val="3539629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40852" y="275209"/>
            <a:ext cx="6418555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Install and RUN OLLAMA and LLMs; llama3.2, Mistral, and </a:t>
            </a:r>
            <a:r>
              <a:rPr lang="en-US" dirty="0" err="1"/>
              <a:t>LLaVA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4287" y="1070668"/>
            <a:ext cx="1895382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/>
              <a:t>For Linux </a:t>
            </a:r>
            <a:r>
              <a:rPr lang="en-US" b="1" dirty="0"/>
              <a:t>Ubuntu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20427" y="701336"/>
            <a:ext cx="7785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Ollama is an interface for running LLMs in Windows, </a:t>
            </a:r>
            <a:r>
              <a:rPr lang="en-US" dirty="0"/>
              <a:t>L</a:t>
            </a:r>
            <a:r>
              <a:rPr lang="en-US" dirty="0" smtClean="0"/>
              <a:t>inux and Mac Computers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019669" y="1080147"/>
            <a:ext cx="9836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Make sure that your computer allow for inbound connections on port 11434. To do that, open terminal and type; </a:t>
            </a:r>
            <a:endParaRPr lang="en-US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807867" y="1566019"/>
            <a:ext cx="3107185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&gt;&gt; </a:t>
            </a:r>
            <a:r>
              <a:rPr lang="en-US" dirty="0" err="1" smtClean="0">
                <a:solidFill>
                  <a:schemeClr val="bg1"/>
                </a:solidFill>
              </a:rPr>
              <a:t>sudo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ufw</a:t>
            </a:r>
            <a:r>
              <a:rPr lang="en-US" dirty="0" smtClean="0">
                <a:solidFill>
                  <a:schemeClr val="bg1"/>
                </a:solidFill>
              </a:rPr>
              <a:t> allow 11434/</a:t>
            </a:r>
            <a:r>
              <a:rPr lang="en-US" dirty="0" err="1" smtClean="0">
                <a:solidFill>
                  <a:schemeClr val="bg1"/>
                </a:solidFill>
              </a:rPr>
              <a:t>tcp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4356" y="1536342"/>
            <a:ext cx="3658111" cy="428685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>
            <a:off x="4119237" y="1796851"/>
            <a:ext cx="82118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01484" y="1566019"/>
            <a:ext cx="6303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/>
              <a:t>OUTPUT</a:t>
            </a:r>
            <a:endParaRPr lang="en-US" sz="9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705774" y="2037431"/>
            <a:ext cx="5095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To install Ollama in </a:t>
            </a:r>
            <a:r>
              <a:rPr lang="en-US" dirty="0" err="1" smtClean="0"/>
              <a:t>linux</a:t>
            </a:r>
            <a:r>
              <a:rPr lang="en-US" dirty="0" smtClean="0"/>
              <a:t>, open terminal and type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890333" y="2037431"/>
            <a:ext cx="4504759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&gt;&gt; curl </a:t>
            </a:r>
            <a:r>
              <a:rPr lang="en-US" dirty="0">
                <a:solidFill>
                  <a:schemeClr val="bg1"/>
                </a:solidFill>
              </a:rPr>
              <a:t>-</a:t>
            </a:r>
            <a:r>
              <a:rPr lang="en-US" dirty="0" err="1">
                <a:solidFill>
                  <a:schemeClr val="bg1"/>
                </a:solidFill>
              </a:rPr>
              <a:t>fsSL</a:t>
            </a:r>
            <a:r>
              <a:rPr lang="en-US" dirty="0">
                <a:solidFill>
                  <a:schemeClr val="bg1"/>
                </a:solidFill>
              </a:rPr>
              <a:t> https://ollama.com/install.sh | </a:t>
            </a:r>
            <a:r>
              <a:rPr lang="en-US" dirty="0" err="1">
                <a:solidFill>
                  <a:schemeClr val="bg1"/>
                </a:solidFill>
              </a:rPr>
              <a:t>sh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3175" y="4118080"/>
            <a:ext cx="39372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Once you installed Ollama, verify that ollama is running by typing in browser; </a:t>
            </a:r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0129" y="4045106"/>
            <a:ext cx="4705347" cy="94450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6" name="Straight Arrow Connector 15"/>
          <p:cNvCxnSpPr/>
          <p:nvPr/>
        </p:nvCxnSpPr>
        <p:spPr>
          <a:xfrm>
            <a:off x="4964094" y="4558153"/>
            <a:ext cx="82118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Bent Arrow 17"/>
          <p:cNvSpPr/>
          <p:nvPr/>
        </p:nvSpPr>
        <p:spPr>
          <a:xfrm rot="10800000">
            <a:off x="7847526" y="2583757"/>
            <a:ext cx="497659" cy="506027"/>
          </a:xfrm>
          <a:prstGeom prst="bent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03175" y="5186376"/>
            <a:ext cx="6715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Pull and run model you want: https</a:t>
            </a:r>
            <a:r>
              <a:rPr lang="en-US" dirty="0"/>
              <a:t>://ollama.com/library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7108" y="5555708"/>
            <a:ext cx="2996215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&gt;&gt; ollama pull llama3.2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&gt;&gt; ollama </a:t>
            </a:r>
            <a:r>
              <a:rPr lang="en-US" dirty="0">
                <a:solidFill>
                  <a:schemeClr val="bg1"/>
                </a:solidFill>
              </a:rPr>
              <a:t>run llama3.2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4636" y="85522"/>
            <a:ext cx="936297" cy="97332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0925148" y="795338"/>
            <a:ext cx="10166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rgbClr val="00B0F0"/>
                </a:solidFill>
              </a:rPr>
              <a:t>OLLAMA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017" y="2515925"/>
            <a:ext cx="6320046" cy="141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799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89932" y="248575"/>
            <a:ext cx="7235303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Demonstration: Chat with </a:t>
            </a:r>
            <a:r>
              <a:rPr lang="en-US" b="1" dirty="0" err="1" smtClean="0">
                <a:solidFill>
                  <a:schemeClr val="bg1"/>
                </a:solidFill>
              </a:rPr>
              <a:t>Ollama’s</a:t>
            </a:r>
            <a:r>
              <a:rPr lang="en-US" b="1" dirty="0" smtClean="0">
                <a:solidFill>
                  <a:schemeClr val="bg1"/>
                </a:solidFill>
              </a:rPr>
              <a:t> LLama3.2 Model Locally on terminal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739" y="1458226"/>
            <a:ext cx="11478827" cy="3092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97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790664" y="243681"/>
            <a:ext cx="5143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atin typeface="ui-sans-serif"/>
              </a:rPr>
              <a:t>LLaVA</a:t>
            </a:r>
            <a:r>
              <a:rPr lang="en-US" b="1" dirty="0">
                <a:latin typeface="ui-sans-serif"/>
              </a:rPr>
              <a:t>: Large Language and Vision Assistant</a:t>
            </a:r>
            <a:endParaRPr lang="en-US" b="1" i="0" dirty="0">
              <a:effectLst/>
              <a:latin typeface="ui-sans-serif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95130" y="962772"/>
            <a:ext cx="2512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Latest Features of </a:t>
            </a:r>
            <a:r>
              <a:rPr lang="en-US" dirty="0" err="1" smtClean="0"/>
              <a:t>LLaVA</a:t>
            </a:r>
            <a:r>
              <a:rPr lang="en-US" dirty="0" smtClean="0"/>
              <a:t>: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130" y="1594451"/>
            <a:ext cx="8145012" cy="16385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5345" y="3495327"/>
            <a:ext cx="6409779" cy="2252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972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89933" y="248575"/>
            <a:ext cx="5246704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Demonstration: Chat with </a:t>
            </a:r>
            <a:r>
              <a:rPr lang="en-US" b="1" dirty="0" err="1" smtClean="0">
                <a:solidFill>
                  <a:schemeClr val="bg1"/>
                </a:solidFill>
              </a:rPr>
              <a:t>Ollama’s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ui-sans-serif"/>
              </a:rPr>
              <a:t>LLaVA</a:t>
            </a:r>
            <a:r>
              <a:rPr lang="en-US" b="1" dirty="0" smtClean="0">
                <a:solidFill>
                  <a:schemeClr val="bg1"/>
                </a:solidFill>
              </a:rPr>
              <a:t> Model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131946" y="253922"/>
            <a:ext cx="1802167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Chat with Images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747" y="2634511"/>
            <a:ext cx="3804522" cy="2149892"/>
          </a:xfrm>
          <a:prstGeom prst="rect">
            <a:avLst/>
          </a:prstGeom>
          <a:ln>
            <a:noFill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8782356" y="1263412"/>
            <a:ext cx="1429305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Input Images</a:t>
            </a:r>
            <a:endParaRPr lang="en-US" dirty="0"/>
          </a:p>
        </p:txBody>
      </p:sp>
      <p:sp>
        <p:nvSpPr>
          <p:cNvPr id="9" name="Right Arrow 8"/>
          <p:cNvSpPr/>
          <p:nvPr/>
        </p:nvSpPr>
        <p:spPr>
          <a:xfrm rot="5400000">
            <a:off x="9378550" y="1985755"/>
            <a:ext cx="532660" cy="295745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77" y="2638560"/>
            <a:ext cx="6910533" cy="215891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31472" y="1335721"/>
            <a:ext cx="807868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Result</a:t>
            </a:r>
            <a:endParaRPr lang="en-US" dirty="0"/>
          </a:p>
        </p:txBody>
      </p:sp>
      <p:sp>
        <p:nvSpPr>
          <p:cNvPr id="14" name="Right Arrow 13"/>
          <p:cNvSpPr/>
          <p:nvPr/>
        </p:nvSpPr>
        <p:spPr>
          <a:xfrm rot="5400000">
            <a:off x="3230081" y="2008665"/>
            <a:ext cx="532660" cy="295745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13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89933" y="248575"/>
            <a:ext cx="5078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Extras: 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241" y="5910003"/>
            <a:ext cx="2896004" cy="40010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00" y="712698"/>
            <a:ext cx="4563112" cy="54681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759" y="863501"/>
            <a:ext cx="4113209" cy="480090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7121" y="1981451"/>
            <a:ext cx="4250839" cy="256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6265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1099</TotalTime>
  <Words>287</Words>
  <Application>Microsoft Office PowerPoint</Application>
  <PresentationFormat>Widescreen</PresentationFormat>
  <Paragraphs>51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DengXian</vt:lpstr>
      <vt:lpstr>Helvetica Neue</vt:lpstr>
      <vt:lpstr>ui-sans-serif</vt:lpstr>
      <vt:lpstr>Arial</vt:lpstr>
      <vt:lpstr>Calibri</vt:lpstr>
      <vt:lpstr>Calibri Light</vt:lpstr>
      <vt:lpstr>Georgia</vt:lpstr>
      <vt:lpstr>Retrospect</vt:lpstr>
      <vt:lpstr>Large Language Model (LLM) Chatbot</vt:lpstr>
      <vt:lpstr>LangChain Framework  </vt:lpstr>
      <vt:lpstr>1) Document Loading</vt:lpstr>
      <vt:lpstr>PowerPoint Presentation</vt:lpstr>
      <vt:lpstr>2) Document Splitting </vt:lpstr>
      <vt:lpstr>PowerPoint Presentation</vt:lpstr>
      <vt:lpstr>3) Vectorstores and Embeddings</vt:lpstr>
      <vt:lpstr>PowerPoint Presentation</vt:lpstr>
      <vt:lpstr>4) Retrieval</vt:lpstr>
      <vt:lpstr>LLM Added Retrieval </vt:lpstr>
      <vt:lpstr>5) Question and Answering </vt:lpstr>
      <vt:lpstr>PowerPoint Presentation</vt:lpstr>
      <vt:lpstr>6) Chat History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zeeshan</dc:creator>
  <cp:lastModifiedBy>zeeshan</cp:lastModifiedBy>
  <cp:revision>128</cp:revision>
  <dcterms:created xsi:type="dcterms:W3CDTF">2024-10-31T01:04:09Z</dcterms:created>
  <dcterms:modified xsi:type="dcterms:W3CDTF">2025-03-05T05:57:24Z</dcterms:modified>
</cp:coreProperties>
</file>